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7" r:id="rId4"/>
    <p:sldId id="258" r:id="rId5"/>
    <p:sldId id="260" r:id="rId6"/>
    <p:sldId id="261" r:id="rId7"/>
    <p:sldId id="262" r:id="rId8"/>
    <p:sldId id="263" r:id="rId9"/>
    <p:sldId id="264" r:id="rId10"/>
    <p:sldId id="267"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D50"/>
        </a:solidFill>
        <a:effectLst/>
      </p:bgPr>
    </p:bg>
    <p:spTree>
      <p:nvGrpSpPr>
        <p:cNvPr id="1" name=""/>
        <p:cNvGrpSpPr/>
        <p:nvPr/>
      </p:nvGrpSpPr>
      <p:grpSpPr>
        <a:xfrm>
          <a:off x="0" y="0"/>
          <a:ext cx="0" cy="0"/>
          <a:chOff x="0" y="0"/>
          <a:chExt cx="0" cy="0"/>
        </a:xfrm>
      </p:grpSpPr>
      <p:sp>
        <p:nvSpPr>
          <p:cNvPr id="2" name="TextBox 1"/>
          <p:cNvSpPr txBox="1"/>
          <p:nvPr/>
        </p:nvSpPr>
        <p:spPr>
          <a:xfrm>
            <a:off x="914400" y="1554480"/>
            <a:ext cx="10332720" cy="1005840"/>
          </a:xfrm>
          <a:prstGeom prst="rect">
            <a:avLst/>
          </a:prstGeom>
          <a:noFill/>
        </p:spPr>
        <p:txBody>
          <a:bodyPr wrap="none">
            <a:spAutoFit/>
          </a:bodyPr>
          <a:lstStyle/>
          <a:p>
            <a:pPr algn="ctr">
              <a:defRPr sz="4600" b="1">
                <a:solidFill>
                  <a:srgbClr val="FFFFFF"/>
                </a:solidFill>
              </a:defRPr>
            </a:pPr>
            <a:r>
              <a:t>MediQueue</a:t>
            </a:r>
          </a:p>
        </p:txBody>
      </p:sp>
      <p:sp>
        <p:nvSpPr>
          <p:cNvPr id="3" name="TextBox 2"/>
          <p:cNvSpPr txBox="1"/>
          <p:nvPr/>
        </p:nvSpPr>
        <p:spPr>
          <a:xfrm>
            <a:off x="914400" y="2743200"/>
            <a:ext cx="10332720" cy="731520"/>
          </a:xfrm>
          <a:prstGeom prst="rect">
            <a:avLst/>
          </a:prstGeom>
          <a:noFill/>
        </p:spPr>
        <p:txBody>
          <a:bodyPr wrap="none">
            <a:spAutoFit/>
          </a:bodyPr>
          <a:lstStyle/>
          <a:p>
            <a:pPr algn="ctr">
              <a:defRPr sz="2400">
                <a:solidFill>
                  <a:srgbClr val="BFDBFE"/>
                </a:solidFill>
              </a:defRPr>
            </a:pPr>
            <a:r>
              <a:t>Smart Hospital OP Booking &amp; Queue Management</a:t>
            </a:r>
          </a:p>
        </p:txBody>
      </p:sp>
      <p:sp>
        <p:nvSpPr>
          <p:cNvPr id="4" name="TextBox 3"/>
          <p:cNvSpPr txBox="1"/>
          <p:nvPr/>
        </p:nvSpPr>
        <p:spPr>
          <a:xfrm>
            <a:off x="6528618" y="3749040"/>
            <a:ext cx="4806991" cy="707886"/>
          </a:xfrm>
          <a:prstGeom prst="rect">
            <a:avLst/>
          </a:prstGeom>
          <a:noFill/>
        </p:spPr>
        <p:txBody>
          <a:bodyPr wrap="square">
            <a:spAutoFit/>
          </a:bodyPr>
          <a:lstStyle/>
          <a:p>
            <a:pPr algn="ctr">
              <a:defRPr sz="2000">
                <a:solidFill>
                  <a:srgbClr val="FFFFFF"/>
                </a:solidFill>
              </a:defRPr>
            </a:pPr>
            <a:r>
              <a:rPr dirty="0"/>
              <a:t>Name: E. Srija</a:t>
            </a:r>
            <a:br>
              <a:rPr dirty="0"/>
            </a:br>
            <a:r>
              <a:rPr lang="en-IN" dirty="0"/>
              <a:t>Department: CSE-AIML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8824" y="720213"/>
            <a:ext cx="10972800" cy="640080"/>
          </a:xfrm>
          <a:prstGeom prst="rect">
            <a:avLst/>
          </a:prstGeom>
          <a:noFill/>
        </p:spPr>
        <p:txBody>
          <a:bodyPr wrap="none">
            <a:spAutoFit/>
          </a:bodyPr>
          <a:lstStyle/>
          <a:p>
            <a:pPr>
              <a:defRPr sz="3000" b="1">
                <a:solidFill>
                  <a:srgbClr val="142D50"/>
                </a:solidFill>
              </a:defRPr>
            </a:pPr>
            <a:r>
              <a:rPr dirty="0"/>
              <a:t>Abstract</a:t>
            </a:r>
          </a:p>
        </p:txBody>
      </p:sp>
      <p:sp>
        <p:nvSpPr>
          <p:cNvPr id="3" name="TextBox 2"/>
          <p:cNvSpPr txBox="1"/>
          <p:nvPr/>
        </p:nvSpPr>
        <p:spPr>
          <a:xfrm>
            <a:off x="822960" y="1417320"/>
            <a:ext cx="10515600" cy="4297680"/>
          </a:xfrm>
          <a:prstGeom prst="rect">
            <a:avLst/>
          </a:prstGeom>
          <a:noFill/>
        </p:spPr>
        <p:txBody>
          <a:bodyPr wrap="square">
            <a:spAutoFit/>
          </a:bodyPr>
          <a:lstStyle/>
          <a:p>
            <a:pPr>
              <a:spcAft>
                <a:spcPts val="1200"/>
              </a:spcAft>
              <a:defRPr sz="2100">
                <a:solidFill>
                  <a:srgbClr val="0F172A"/>
                </a:solidFill>
              </a:defRPr>
            </a:pPr>
            <a:r>
              <a:t>MediQueue is a smart hospital OP booking and queue management system developed using Python and Streamlit. It allows patients to select a department, doctor, date and available time slot for an OP appointment. The system automatically generates tokens, manages break slots, displays queue status and maintains appointment history. It also provides analytics and CSV export for better record management. The main aim of MediQueue is to reduce waiting time, avoid booking confusion and make hospital OP management simple, organized and efficient.</a:t>
            </a:r>
          </a:p>
        </p:txBody>
      </p:sp>
      <p:sp>
        <p:nvSpPr>
          <p:cNvPr id="4" name="Rectangle 3"/>
          <p:cNvSpPr/>
          <p:nvPr/>
        </p:nvSpPr>
        <p:spPr>
          <a:xfrm>
            <a:off x="0" y="6583680"/>
            <a:ext cx="12191695" cy="274320"/>
          </a:xfrm>
          <a:prstGeom prst="rect">
            <a:avLst/>
          </a:prstGeom>
          <a:solidFill>
            <a:srgbClr val="14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565392"/>
            <a:ext cx="914400" cy="228600"/>
          </a:xfrm>
          <a:prstGeom prst="rect">
            <a:avLst/>
          </a:prstGeom>
          <a:noFill/>
        </p:spPr>
        <p:txBody>
          <a:bodyPr wrap="none">
            <a:spAutoFit/>
          </a:bodyPr>
          <a:lstStyle/>
          <a:p>
            <a:pPr algn="r">
              <a:defRPr sz="1000">
                <a:solidFill>
                  <a:srgbClr val="FFFFFF"/>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44068"/>
            <a:ext cx="10972800" cy="594360"/>
          </a:xfrm>
          <a:prstGeom prst="rect">
            <a:avLst/>
          </a:prstGeom>
          <a:noFill/>
        </p:spPr>
        <p:txBody>
          <a:bodyPr wrap="none">
            <a:spAutoFit/>
          </a:bodyPr>
          <a:lstStyle/>
          <a:p>
            <a:pPr>
              <a:defRPr sz="2900" b="1">
                <a:solidFill>
                  <a:srgbClr val="142D50"/>
                </a:solidFill>
              </a:defRPr>
            </a:pPr>
            <a:r>
              <a:rPr dirty="0"/>
              <a:t>Problem &amp; Need</a:t>
            </a:r>
          </a:p>
        </p:txBody>
      </p:sp>
      <p:sp>
        <p:nvSpPr>
          <p:cNvPr id="3" name="TextBox 2"/>
          <p:cNvSpPr txBox="1"/>
          <p:nvPr/>
        </p:nvSpPr>
        <p:spPr>
          <a:xfrm>
            <a:off x="822960" y="1234440"/>
            <a:ext cx="10515600" cy="4937760"/>
          </a:xfrm>
          <a:prstGeom prst="rect">
            <a:avLst/>
          </a:prstGeom>
          <a:noFill/>
        </p:spPr>
        <p:txBody>
          <a:bodyPr wrap="square">
            <a:spAutoFit/>
          </a:bodyPr>
          <a:lstStyle/>
          <a:p>
            <a:pPr>
              <a:spcAft>
                <a:spcPts val="1300"/>
              </a:spcAft>
              <a:defRPr sz="2100">
                <a:solidFill>
                  <a:srgbClr val="0F172A"/>
                </a:solidFill>
              </a:defRPr>
            </a:pPr>
            <a:r>
              <a:t>• Manual OP registration causes long waiting and crowding.</a:t>
            </a:r>
          </a:p>
          <a:p>
            <a:pPr>
              <a:spcAft>
                <a:spcPts val="1300"/>
              </a:spcAft>
              <a:defRPr sz="2100">
                <a:solidFill>
                  <a:srgbClr val="0F172A"/>
                </a:solidFill>
              </a:defRPr>
            </a:pPr>
            <a:r>
              <a:t>• Token handling can lead to confusion and duplicate bookings.</a:t>
            </a:r>
          </a:p>
          <a:p>
            <a:pPr>
              <a:spcAft>
                <a:spcPts val="1300"/>
              </a:spcAft>
              <a:defRPr sz="2100">
                <a:solidFill>
                  <a:srgbClr val="0F172A"/>
                </a:solidFill>
              </a:defRPr>
            </a:pPr>
            <a:r>
              <a:t>• Patients need quick information about doctors and available slots.</a:t>
            </a:r>
          </a:p>
          <a:p>
            <a:pPr>
              <a:spcAft>
                <a:spcPts val="1300"/>
              </a:spcAft>
              <a:defRPr sz="2100">
                <a:solidFill>
                  <a:srgbClr val="0F172A"/>
                </a:solidFill>
              </a:defRPr>
            </a:pPr>
            <a:r>
              <a:t>• A digital system can make booking and queue management faster and organized.</a:t>
            </a:r>
          </a:p>
        </p:txBody>
      </p:sp>
      <p:sp>
        <p:nvSpPr>
          <p:cNvPr id="4" name="Rectangle 3"/>
          <p:cNvSpPr/>
          <p:nvPr/>
        </p:nvSpPr>
        <p:spPr>
          <a:xfrm>
            <a:off x="0" y="6583680"/>
            <a:ext cx="12191695" cy="274320"/>
          </a:xfrm>
          <a:prstGeom prst="rect">
            <a:avLst/>
          </a:prstGeom>
          <a:solidFill>
            <a:srgbClr val="14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565392"/>
            <a:ext cx="914400" cy="228600"/>
          </a:xfrm>
          <a:prstGeom prst="rect">
            <a:avLst/>
          </a:prstGeom>
          <a:noFill/>
        </p:spPr>
        <p:txBody>
          <a:bodyPr wrap="none">
            <a:spAutoFit/>
          </a:bodyPr>
          <a:lstStyle/>
          <a:p>
            <a:pPr algn="r">
              <a:defRPr sz="1000">
                <a:solidFill>
                  <a:srgbClr val="FFFFFF"/>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53440" y="640080"/>
            <a:ext cx="10972800" cy="594360"/>
          </a:xfrm>
          <a:prstGeom prst="rect">
            <a:avLst/>
          </a:prstGeom>
          <a:noFill/>
        </p:spPr>
        <p:txBody>
          <a:bodyPr wrap="none">
            <a:spAutoFit/>
          </a:bodyPr>
          <a:lstStyle/>
          <a:p>
            <a:pPr>
              <a:defRPr sz="2900" b="1">
                <a:solidFill>
                  <a:srgbClr val="142D50"/>
                </a:solidFill>
              </a:defRPr>
            </a:pPr>
            <a:r>
              <a:rPr dirty="0"/>
              <a:t>Objectives</a:t>
            </a:r>
          </a:p>
        </p:txBody>
      </p:sp>
      <p:sp>
        <p:nvSpPr>
          <p:cNvPr id="3" name="TextBox 2"/>
          <p:cNvSpPr txBox="1"/>
          <p:nvPr/>
        </p:nvSpPr>
        <p:spPr>
          <a:xfrm>
            <a:off x="822960" y="1234440"/>
            <a:ext cx="10515600" cy="4937760"/>
          </a:xfrm>
          <a:prstGeom prst="rect">
            <a:avLst/>
          </a:prstGeom>
          <a:noFill/>
        </p:spPr>
        <p:txBody>
          <a:bodyPr wrap="square">
            <a:spAutoFit/>
          </a:bodyPr>
          <a:lstStyle/>
          <a:p>
            <a:pPr>
              <a:spcAft>
                <a:spcPts val="1300"/>
              </a:spcAft>
              <a:defRPr sz="2100">
                <a:solidFill>
                  <a:srgbClr val="0F172A"/>
                </a:solidFill>
              </a:defRPr>
            </a:pPr>
            <a:r>
              <a:t>• Provide simple online OP appointment booking.</a:t>
            </a:r>
          </a:p>
          <a:p>
            <a:pPr>
              <a:spcAft>
                <a:spcPts val="1300"/>
              </a:spcAft>
              <a:defRPr sz="2100">
                <a:solidFill>
                  <a:srgbClr val="0F172A"/>
                </a:solidFill>
              </a:defRPr>
            </a:pPr>
            <a:r>
              <a:t>• Generate tokens automatically.</a:t>
            </a:r>
          </a:p>
          <a:p>
            <a:pPr>
              <a:spcAft>
                <a:spcPts val="1300"/>
              </a:spcAft>
              <a:defRPr sz="2100">
                <a:solidFill>
                  <a:srgbClr val="0F172A"/>
                </a:solidFill>
              </a:defRPr>
            </a:pPr>
            <a:r>
              <a:t>• Manage departments, doctors and time slots.</a:t>
            </a:r>
          </a:p>
          <a:p>
            <a:pPr>
              <a:spcAft>
                <a:spcPts val="1300"/>
              </a:spcAft>
              <a:defRPr sz="2100">
                <a:solidFill>
                  <a:srgbClr val="0F172A"/>
                </a:solidFill>
              </a:defRPr>
            </a:pPr>
            <a:r>
              <a:t>• Show queue status and appointment history.</a:t>
            </a:r>
          </a:p>
          <a:p>
            <a:pPr>
              <a:spcAft>
                <a:spcPts val="1300"/>
              </a:spcAft>
              <a:defRPr sz="2100">
                <a:solidFill>
                  <a:srgbClr val="0F172A"/>
                </a:solidFill>
              </a:defRPr>
            </a:pPr>
            <a:r>
              <a:t>• Provide analytics and CSV export.</a:t>
            </a:r>
          </a:p>
        </p:txBody>
      </p:sp>
      <p:sp>
        <p:nvSpPr>
          <p:cNvPr id="4" name="Rectangle 3"/>
          <p:cNvSpPr/>
          <p:nvPr/>
        </p:nvSpPr>
        <p:spPr>
          <a:xfrm>
            <a:off x="0" y="6583680"/>
            <a:ext cx="12191695" cy="274320"/>
          </a:xfrm>
          <a:prstGeom prst="rect">
            <a:avLst/>
          </a:prstGeom>
          <a:solidFill>
            <a:srgbClr val="14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565392"/>
            <a:ext cx="914400" cy="228600"/>
          </a:xfrm>
          <a:prstGeom prst="rect">
            <a:avLst/>
          </a:prstGeom>
          <a:noFill/>
        </p:spPr>
        <p:txBody>
          <a:bodyPr wrap="none">
            <a:spAutoFit/>
          </a:bodyPr>
          <a:lstStyle/>
          <a:p>
            <a:pPr algn="r">
              <a:defRPr sz="1000">
                <a:solidFill>
                  <a:srgbClr val="FFFFFF"/>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44068"/>
            <a:ext cx="10972800" cy="594360"/>
          </a:xfrm>
          <a:prstGeom prst="rect">
            <a:avLst/>
          </a:prstGeom>
          <a:noFill/>
        </p:spPr>
        <p:txBody>
          <a:bodyPr wrap="none">
            <a:spAutoFit/>
          </a:bodyPr>
          <a:lstStyle/>
          <a:p>
            <a:pPr>
              <a:defRPr sz="2900" b="1">
                <a:solidFill>
                  <a:srgbClr val="142D50"/>
                </a:solidFill>
              </a:defRPr>
            </a:pPr>
            <a:r>
              <a:rPr dirty="0"/>
              <a:t>Technologies Used</a:t>
            </a:r>
          </a:p>
        </p:txBody>
      </p:sp>
      <p:sp>
        <p:nvSpPr>
          <p:cNvPr id="3" name="TextBox 2"/>
          <p:cNvSpPr txBox="1"/>
          <p:nvPr/>
        </p:nvSpPr>
        <p:spPr>
          <a:xfrm>
            <a:off x="822960" y="1234440"/>
            <a:ext cx="10515600" cy="4937760"/>
          </a:xfrm>
          <a:prstGeom prst="rect">
            <a:avLst/>
          </a:prstGeom>
          <a:noFill/>
        </p:spPr>
        <p:txBody>
          <a:bodyPr wrap="square">
            <a:spAutoFit/>
          </a:bodyPr>
          <a:lstStyle/>
          <a:p>
            <a:pPr>
              <a:spcAft>
                <a:spcPts val="1300"/>
              </a:spcAft>
              <a:defRPr sz="2100">
                <a:solidFill>
                  <a:srgbClr val="0F172A"/>
                </a:solidFill>
              </a:defRPr>
            </a:pPr>
            <a:r>
              <a:t>• Python – core programming language.</a:t>
            </a:r>
          </a:p>
          <a:p>
            <a:pPr>
              <a:spcAft>
                <a:spcPts val="1300"/>
              </a:spcAft>
              <a:defRPr sz="2100">
                <a:solidFill>
                  <a:srgbClr val="0F172A"/>
                </a:solidFill>
              </a:defRPr>
            </a:pPr>
            <a:r>
              <a:t>• Streamlit – interactive web application framework.</a:t>
            </a:r>
          </a:p>
          <a:p>
            <a:pPr>
              <a:spcAft>
                <a:spcPts val="1300"/>
              </a:spcAft>
              <a:defRPr sz="2100">
                <a:solidFill>
                  <a:srgbClr val="0F172A"/>
                </a:solidFill>
              </a:defRPr>
            </a:pPr>
            <a:r>
              <a:t>• Pandas – data processing and analytics.</a:t>
            </a:r>
          </a:p>
          <a:p>
            <a:pPr>
              <a:spcAft>
                <a:spcPts val="1300"/>
              </a:spcAft>
              <a:defRPr sz="2100">
                <a:solidFill>
                  <a:srgbClr val="0F172A"/>
                </a:solidFill>
              </a:defRPr>
            </a:pPr>
            <a:r>
              <a:t>• Streamlit Autorefresh – automatic dashboard refresh.</a:t>
            </a:r>
          </a:p>
          <a:p>
            <a:pPr>
              <a:spcAft>
                <a:spcPts val="1300"/>
              </a:spcAft>
              <a:defRPr sz="2100">
                <a:solidFill>
                  <a:srgbClr val="0F172A"/>
                </a:solidFill>
              </a:defRPr>
            </a:pPr>
            <a:r>
              <a:t>• CSV – appointment data export.</a:t>
            </a:r>
          </a:p>
        </p:txBody>
      </p:sp>
      <p:sp>
        <p:nvSpPr>
          <p:cNvPr id="4" name="Rectangle 3"/>
          <p:cNvSpPr/>
          <p:nvPr/>
        </p:nvSpPr>
        <p:spPr>
          <a:xfrm>
            <a:off x="0" y="6583680"/>
            <a:ext cx="12191695" cy="274320"/>
          </a:xfrm>
          <a:prstGeom prst="rect">
            <a:avLst/>
          </a:prstGeom>
          <a:solidFill>
            <a:srgbClr val="14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565392"/>
            <a:ext cx="914400" cy="228600"/>
          </a:xfrm>
          <a:prstGeom prst="rect">
            <a:avLst/>
          </a:prstGeom>
          <a:noFill/>
        </p:spPr>
        <p:txBody>
          <a:bodyPr wrap="none">
            <a:spAutoFit/>
          </a:bodyPr>
          <a:lstStyle/>
          <a:p>
            <a:pPr algn="r">
              <a:defRPr sz="1000">
                <a:solidFill>
                  <a:srgbClr val="FFFFFF"/>
                </a:solidFill>
              </a:defRPr>
            </a:pPr>
            <a: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44068"/>
            <a:ext cx="10972800" cy="594360"/>
          </a:xfrm>
          <a:prstGeom prst="rect">
            <a:avLst/>
          </a:prstGeom>
          <a:noFill/>
        </p:spPr>
        <p:txBody>
          <a:bodyPr wrap="none">
            <a:spAutoFit/>
          </a:bodyPr>
          <a:lstStyle/>
          <a:p>
            <a:pPr>
              <a:defRPr sz="2900" b="1">
                <a:solidFill>
                  <a:srgbClr val="142D50"/>
                </a:solidFill>
              </a:defRPr>
            </a:pPr>
            <a:r>
              <a:rPr dirty="0"/>
              <a:t>Main Modules</a:t>
            </a:r>
          </a:p>
        </p:txBody>
      </p:sp>
      <p:sp>
        <p:nvSpPr>
          <p:cNvPr id="3" name="TextBox 2"/>
          <p:cNvSpPr txBox="1"/>
          <p:nvPr/>
        </p:nvSpPr>
        <p:spPr>
          <a:xfrm>
            <a:off x="822960" y="1234440"/>
            <a:ext cx="10515600" cy="4937760"/>
          </a:xfrm>
          <a:prstGeom prst="rect">
            <a:avLst/>
          </a:prstGeom>
          <a:noFill/>
        </p:spPr>
        <p:txBody>
          <a:bodyPr wrap="square">
            <a:spAutoFit/>
          </a:bodyPr>
          <a:lstStyle/>
          <a:p>
            <a:pPr>
              <a:spcAft>
                <a:spcPts val="1300"/>
              </a:spcAft>
              <a:defRPr sz="1900">
                <a:solidFill>
                  <a:srgbClr val="0F172A"/>
                </a:solidFill>
              </a:defRPr>
            </a:pPr>
            <a:r>
              <a:t>• Home – hospital dashboard and navigation.</a:t>
            </a:r>
          </a:p>
          <a:p>
            <a:pPr>
              <a:spcAft>
                <a:spcPts val="1300"/>
              </a:spcAft>
              <a:defRPr sz="1900">
                <a:solidFill>
                  <a:srgbClr val="0F172A"/>
                </a:solidFill>
              </a:defRPr>
            </a:pPr>
            <a:r>
              <a:t>• Book OP – patient details and appointment booking.</a:t>
            </a:r>
          </a:p>
          <a:p>
            <a:pPr>
              <a:spcAft>
                <a:spcPts val="1300"/>
              </a:spcAft>
              <a:defRPr sz="1900">
                <a:solidFill>
                  <a:srgbClr val="0F172A"/>
                </a:solidFill>
              </a:defRPr>
            </a:pPr>
            <a:r>
              <a:t>• Doctors – department-wise doctor selection.</a:t>
            </a:r>
          </a:p>
          <a:p>
            <a:pPr>
              <a:spcAft>
                <a:spcPts val="1300"/>
              </a:spcAft>
              <a:defRPr sz="1900">
                <a:solidFill>
                  <a:srgbClr val="0F172A"/>
                </a:solidFill>
              </a:defRPr>
            </a:pPr>
            <a:r>
              <a:t>• Queue – token and waiting status.</a:t>
            </a:r>
          </a:p>
          <a:p>
            <a:pPr>
              <a:spcAft>
                <a:spcPts val="1300"/>
              </a:spcAft>
              <a:defRPr sz="1900">
                <a:solidFill>
                  <a:srgbClr val="0F172A"/>
                </a:solidFill>
              </a:defRPr>
            </a:pPr>
            <a:r>
              <a:t>• History – previous appointments and cancellations.</a:t>
            </a:r>
          </a:p>
          <a:p>
            <a:pPr>
              <a:spcAft>
                <a:spcPts val="1300"/>
              </a:spcAft>
              <a:defRPr sz="1900">
                <a:solidFill>
                  <a:srgbClr val="0F172A"/>
                </a:solidFill>
              </a:defRPr>
            </a:pPr>
            <a:r>
              <a:t>• Analytics – booking statistics and CSV download.</a:t>
            </a:r>
          </a:p>
        </p:txBody>
      </p:sp>
      <p:sp>
        <p:nvSpPr>
          <p:cNvPr id="4" name="Rectangle 3"/>
          <p:cNvSpPr/>
          <p:nvPr/>
        </p:nvSpPr>
        <p:spPr>
          <a:xfrm>
            <a:off x="0" y="6583680"/>
            <a:ext cx="12191695" cy="274320"/>
          </a:xfrm>
          <a:prstGeom prst="rect">
            <a:avLst/>
          </a:prstGeom>
          <a:solidFill>
            <a:srgbClr val="14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565392"/>
            <a:ext cx="914400" cy="228600"/>
          </a:xfrm>
          <a:prstGeom prst="rect">
            <a:avLst/>
          </a:prstGeom>
          <a:noFill/>
        </p:spPr>
        <p:txBody>
          <a:bodyPr wrap="none">
            <a:spAutoFit/>
          </a:bodyPr>
          <a:lstStyle/>
          <a:p>
            <a:pPr algn="r">
              <a:defRPr sz="1000">
                <a:solidFill>
                  <a:srgbClr val="FFFFFF"/>
                </a:solidFill>
              </a:defRPr>
            </a:pPr>
            <a: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10972800" cy="594360"/>
          </a:xfrm>
          <a:prstGeom prst="rect">
            <a:avLst/>
          </a:prstGeom>
          <a:noFill/>
        </p:spPr>
        <p:txBody>
          <a:bodyPr wrap="none">
            <a:spAutoFit/>
          </a:bodyPr>
          <a:lstStyle/>
          <a:p>
            <a:pPr>
              <a:defRPr sz="2900" b="1">
                <a:solidFill>
                  <a:srgbClr val="142D50"/>
                </a:solidFill>
              </a:defRPr>
            </a:pPr>
            <a:r>
              <a:rPr dirty="0"/>
              <a:t>Appointment Workflow</a:t>
            </a:r>
          </a:p>
        </p:txBody>
      </p:sp>
      <p:sp>
        <p:nvSpPr>
          <p:cNvPr id="3" name="Rounded Rectangle 2"/>
          <p:cNvSpPr/>
          <p:nvPr/>
        </p:nvSpPr>
        <p:spPr>
          <a:xfrm>
            <a:off x="594360" y="2011680"/>
            <a:ext cx="1554480" cy="123444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D50"/>
                </a:solidFill>
              </a:defRPr>
            </a:pPr>
            <a:r>
              <a:t>Select Department</a:t>
            </a:r>
          </a:p>
        </p:txBody>
      </p:sp>
      <p:sp>
        <p:nvSpPr>
          <p:cNvPr id="4" name="Chevron 3"/>
          <p:cNvSpPr/>
          <p:nvPr/>
        </p:nvSpPr>
        <p:spPr>
          <a:xfrm>
            <a:off x="2167128" y="2395728"/>
            <a:ext cx="228600" cy="411480"/>
          </a:xfrm>
          <a:prstGeom prst="chevron">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68879" y="2011680"/>
            <a:ext cx="1554480" cy="123444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D50"/>
                </a:solidFill>
              </a:defRPr>
            </a:pPr>
            <a:r>
              <a:t>Choose Doctor</a:t>
            </a:r>
          </a:p>
        </p:txBody>
      </p:sp>
      <p:sp>
        <p:nvSpPr>
          <p:cNvPr id="6" name="Chevron 5"/>
          <p:cNvSpPr/>
          <p:nvPr/>
        </p:nvSpPr>
        <p:spPr>
          <a:xfrm>
            <a:off x="4041648" y="2395728"/>
            <a:ext cx="228600" cy="411480"/>
          </a:xfrm>
          <a:prstGeom prst="chevron">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43400" y="2011680"/>
            <a:ext cx="1554480" cy="123444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D50"/>
                </a:solidFill>
              </a:defRPr>
            </a:pPr>
            <a:r>
              <a:t>Select Date &amp; Slot</a:t>
            </a:r>
          </a:p>
        </p:txBody>
      </p:sp>
      <p:sp>
        <p:nvSpPr>
          <p:cNvPr id="8" name="Chevron 7"/>
          <p:cNvSpPr/>
          <p:nvPr/>
        </p:nvSpPr>
        <p:spPr>
          <a:xfrm>
            <a:off x="5916168" y="2395728"/>
            <a:ext cx="228600" cy="411480"/>
          </a:xfrm>
          <a:prstGeom prst="chevron">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17920" y="2011680"/>
            <a:ext cx="1554480" cy="123444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D50"/>
                </a:solidFill>
              </a:defRPr>
            </a:pPr>
            <a:r>
              <a:t>Enter Details</a:t>
            </a:r>
          </a:p>
        </p:txBody>
      </p:sp>
      <p:sp>
        <p:nvSpPr>
          <p:cNvPr id="10" name="Chevron 9"/>
          <p:cNvSpPr/>
          <p:nvPr/>
        </p:nvSpPr>
        <p:spPr>
          <a:xfrm>
            <a:off x="7790688" y="2395728"/>
            <a:ext cx="228600" cy="411480"/>
          </a:xfrm>
          <a:prstGeom prst="chevron">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92440" y="2011680"/>
            <a:ext cx="1554480" cy="123444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D50"/>
                </a:solidFill>
              </a:defRPr>
            </a:pPr>
            <a:r>
              <a:t>Generate Token</a:t>
            </a:r>
          </a:p>
        </p:txBody>
      </p:sp>
      <p:sp>
        <p:nvSpPr>
          <p:cNvPr id="12" name="Chevron 11"/>
          <p:cNvSpPr/>
          <p:nvPr/>
        </p:nvSpPr>
        <p:spPr>
          <a:xfrm>
            <a:off x="9665208" y="2395728"/>
            <a:ext cx="228600" cy="411480"/>
          </a:xfrm>
          <a:prstGeom prst="chevron">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966960" y="2011680"/>
            <a:ext cx="1554480" cy="123444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D50"/>
                </a:solidFill>
              </a:defRPr>
            </a:pPr>
            <a:r>
              <a:t>View Queue</a:t>
            </a:r>
          </a:p>
        </p:txBody>
      </p:sp>
      <p:sp>
        <p:nvSpPr>
          <p:cNvPr id="14" name="TextBox 13"/>
          <p:cNvSpPr txBox="1"/>
          <p:nvPr/>
        </p:nvSpPr>
        <p:spPr>
          <a:xfrm>
            <a:off x="914400" y="4023360"/>
            <a:ext cx="10332720" cy="914400"/>
          </a:xfrm>
          <a:prstGeom prst="rect">
            <a:avLst/>
          </a:prstGeom>
          <a:noFill/>
        </p:spPr>
        <p:txBody>
          <a:bodyPr wrap="none">
            <a:spAutoFit/>
          </a:bodyPr>
          <a:lstStyle/>
          <a:p>
            <a:pPr algn="ctr">
              <a:defRPr sz="2000">
                <a:solidFill>
                  <a:srgbClr val="0F172A"/>
                </a:solidFill>
              </a:defRPr>
            </a:pPr>
            <a:r>
              <a:t>Break slots are automatically excluded from normal booking.</a:t>
            </a:r>
          </a:p>
        </p:txBody>
      </p:sp>
      <p:sp>
        <p:nvSpPr>
          <p:cNvPr id="15" name="Rectangle 14"/>
          <p:cNvSpPr/>
          <p:nvPr/>
        </p:nvSpPr>
        <p:spPr>
          <a:xfrm>
            <a:off x="0" y="6583680"/>
            <a:ext cx="12191695" cy="274320"/>
          </a:xfrm>
          <a:prstGeom prst="rect">
            <a:avLst/>
          </a:prstGeom>
          <a:solidFill>
            <a:srgbClr val="14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0" y="6565392"/>
            <a:ext cx="914400" cy="228600"/>
          </a:xfrm>
          <a:prstGeom prst="rect">
            <a:avLst/>
          </a:prstGeom>
          <a:noFill/>
        </p:spPr>
        <p:txBody>
          <a:bodyPr wrap="none">
            <a:spAutoFit/>
          </a:bodyPr>
          <a:lstStyle/>
          <a:p>
            <a:pPr algn="r">
              <a:defRPr sz="1000">
                <a:solidFill>
                  <a:srgbClr val="FFFFFF"/>
                </a:solidFill>
              </a:defRPr>
            </a:pPr>
            <a: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25780"/>
            <a:ext cx="10972800" cy="594360"/>
          </a:xfrm>
          <a:prstGeom prst="rect">
            <a:avLst/>
          </a:prstGeom>
          <a:noFill/>
        </p:spPr>
        <p:txBody>
          <a:bodyPr wrap="none">
            <a:spAutoFit/>
          </a:bodyPr>
          <a:lstStyle/>
          <a:p>
            <a:pPr>
              <a:defRPr sz="2900" b="1">
                <a:solidFill>
                  <a:srgbClr val="142D50"/>
                </a:solidFill>
              </a:defRPr>
            </a:pPr>
            <a:r>
              <a:rPr dirty="0"/>
              <a:t>Key Features</a:t>
            </a:r>
          </a:p>
        </p:txBody>
      </p:sp>
      <p:sp>
        <p:nvSpPr>
          <p:cNvPr id="3" name="TextBox 2"/>
          <p:cNvSpPr txBox="1"/>
          <p:nvPr/>
        </p:nvSpPr>
        <p:spPr>
          <a:xfrm>
            <a:off x="822960" y="1234440"/>
            <a:ext cx="10515600" cy="4937760"/>
          </a:xfrm>
          <a:prstGeom prst="rect">
            <a:avLst/>
          </a:prstGeom>
          <a:noFill/>
        </p:spPr>
        <p:txBody>
          <a:bodyPr wrap="square">
            <a:spAutoFit/>
          </a:bodyPr>
          <a:lstStyle/>
          <a:p>
            <a:pPr>
              <a:spcAft>
                <a:spcPts val="1300"/>
              </a:spcAft>
              <a:defRPr sz="1900">
                <a:solidFill>
                  <a:srgbClr val="0F172A"/>
                </a:solidFill>
              </a:defRPr>
            </a:pPr>
            <a:r>
              <a:t>• Automatic token generation.</a:t>
            </a:r>
          </a:p>
          <a:p>
            <a:pPr>
              <a:spcAft>
                <a:spcPts val="1300"/>
              </a:spcAft>
              <a:defRPr sz="1900">
                <a:solidFill>
                  <a:srgbClr val="0F172A"/>
                </a:solidFill>
              </a:defRPr>
            </a:pPr>
            <a:r>
              <a:t>• Multiple departments and doctors.</a:t>
            </a:r>
          </a:p>
          <a:p>
            <a:pPr>
              <a:spcAft>
                <a:spcPts val="1300"/>
              </a:spcAft>
              <a:defRPr sz="1900">
                <a:solidFill>
                  <a:srgbClr val="0F172A"/>
                </a:solidFill>
              </a:defRPr>
            </a:pPr>
            <a:r>
              <a:t>• Valid time-slot and break management.</a:t>
            </a:r>
          </a:p>
          <a:p>
            <a:pPr>
              <a:spcAft>
                <a:spcPts val="1300"/>
              </a:spcAft>
              <a:defRPr sz="1900">
                <a:solidFill>
                  <a:srgbClr val="0F172A"/>
                </a:solidFill>
              </a:defRPr>
            </a:pPr>
            <a:r>
              <a:t>• Queue tracking and appointment history.</a:t>
            </a:r>
          </a:p>
          <a:p>
            <a:pPr>
              <a:spcAft>
                <a:spcPts val="1300"/>
              </a:spcAft>
              <a:defRPr sz="1900">
                <a:solidFill>
                  <a:srgbClr val="0F172A"/>
                </a:solidFill>
              </a:defRPr>
            </a:pPr>
            <a:r>
              <a:t>• Cancellation support.</a:t>
            </a:r>
          </a:p>
          <a:p>
            <a:pPr>
              <a:spcAft>
                <a:spcPts val="1300"/>
              </a:spcAft>
              <a:defRPr sz="1900">
                <a:solidFill>
                  <a:srgbClr val="0F172A"/>
                </a:solidFill>
              </a:defRPr>
            </a:pPr>
            <a:r>
              <a:t>• Analytics with downloadable CSV.</a:t>
            </a:r>
          </a:p>
          <a:p>
            <a:pPr>
              <a:spcAft>
                <a:spcPts val="1300"/>
              </a:spcAft>
              <a:defRPr sz="1900">
                <a:solidFill>
                  <a:srgbClr val="0F172A"/>
                </a:solidFill>
              </a:defRPr>
            </a:pPr>
            <a:r>
              <a:t>• Professional dashboard with rotating hospital visuals.</a:t>
            </a:r>
          </a:p>
        </p:txBody>
      </p:sp>
      <p:sp>
        <p:nvSpPr>
          <p:cNvPr id="4" name="Rectangle 3"/>
          <p:cNvSpPr/>
          <p:nvPr/>
        </p:nvSpPr>
        <p:spPr>
          <a:xfrm>
            <a:off x="0" y="6583680"/>
            <a:ext cx="12191695" cy="274320"/>
          </a:xfrm>
          <a:prstGeom prst="rect">
            <a:avLst/>
          </a:prstGeom>
          <a:solidFill>
            <a:srgbClr val="14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565392"/>
            <a:ext cx="914400" cy="228600"/>
          </a:xfrm>
          <a:prstGeom prst="rect">
            <a:avLst/>
          </a:prstGeom>
          <a:noFill/>
        </p:spPr>
        <p:txBody>
          <a:bodyPr wrap="none">
            <a:spAutoFit/>
          </a:bodyPr>
          <a:lstStyle/>
          <a:p>
            <a:pPr algn="r">
              <a:defRPr sz="1000">
                <a:solidFill>
                  <a:srgbClr val="FFFFFF"/>
                </a:solidFill>
              </a:defRPr>
            </a:pPr>
            <a: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822960" y="443484"/>
            <a:ext cx="10972800" cy="594360"/>
          </a:xfrm>
          <a:prstGeom prst="rect">
            <a:avLst/>
          </a:prstGeom>
          <a:noFill/>
        </p:spPr>
        <p:txBody>
          <a:bodyPr wrap="none">
            <a:spAutoFit/>
          </a:bodyPr>
          <a:lstStyle/>
          <a:p>
            <a:pPr>
              <a:defRPr sz="2900" b="1">
                <a:solidFill>
                  <a:srgbClr val="142D50"/>
                </a:solidFill>
              </a:defRPr>
            </a:pPr>
            <a:r>
              <a:rPr dirty="0"/>
              <a:t>Advantages &amp; Future Scope</a:t>
            </a:r>
          </a:p>
        </p:txBody>
      </p:sp>
      <p:sp>
        <p:nvSpPr>
          <p:cNvPr id="3" name="TextBox 2"/>
          <p:cNvSpPr txBox="1"/>
          <p:nvPr/>
        </p:nvSpPr>
        <p:spPr>
          <a:xfrm>
            <a:off x="822960" y="1234440"/>
            <a:ext cx="10515600" cy="4937760"/>
          </a:xfrm>
          <a:prstGeom prst="rect">
            <a:avLst/>
          </a:prstGeom>
          <a:noFill/>
        </p:spPr>
        <p:txBody>
          <a:bodyPr wrap="square">
            <a:spAutoFit/>
          </a:bodyPr>
          <a:lstStyle/>
          <a:p>
            <a:pPr>
              <a:spcAft>
                <a:spcPts val="1300"/>
              </a:spcAft>
              <a:defRPr sz="1900">
                <a:solidFill>
                  <a:srgbClr val="0F172A"/>
                </a:solidFill>
              </a:defRPr>
            </a:pPr>
            <a:r>
              <a:rPr dirty="0"/>
              <a:t>• Advantages: reduces waiting time, minimizes manual errors and improves queue visibility.</a:t>
            </a:r>
          </a:p>
          <a:p>
            <a:pPr>
              <a:spcAft>
                <a:spcPts val="1300"/>
              </a:spcAft>
              <a:defRPr sz="1900">
                <a:solidFill>
                  <a:srgbClr val="0F172A"/>
                </a:solidFill>
              </a:defRPr>
            </a:pPr>
            <a:r>
              <a:rPr dirty="0"/>
              <a:t>• Future: database integration for permanent records.</a:t>
            </a:r>
          </a:p>
          <a:p>
            <a:pPr>
              <a:spcAft>
                <a:spcPts val="1300"/>
              </a:spcAft>
              <a:defRPr sz="1900">
                <a:solidFill>
                  <a:srgbClr val="0F172A"/>
                </a:solidFill>
              </a:defRPr>
            </a:pPr>
            <a:r>
              <a:rPr dirty="0"/>
              <a:t>• Future: secure patient/doctor login and role-based access.</a:t>
            </a:r>
          </a:p>
          <a:p>
            <a:pPr>
              <a:spcAft>
                <a:spcPts val="1300"/>
              </a:spcAft>
              <a:defRPr sz="1900">
                <a:solidFill>
                  <a:srgbClr val="0F172A"/>
                </a:solidFill>
              </a:defRPr>
            </a:pPr>
            <a:r>
              <a:rPr dirty="0"/>
              <a:t>• Future: SMS/WhatsApp reminders and real-time queue notifications.</a:t>
            </a:r>
          </a:p>
          <a:p>
            <a:pPr>
              <a:spcAft>
                <a:spcPts val="1300"/>
              </a:spcAft>
              <a:defRPr sz="1900">
                <a:solidFill>
                  <a:srgbClr val="0F172A"/>
                </a:solidFill>
              </a:defRPr>
            </a:pPr>
            <a:r>
              <a:rPr dirty="0"/>
              <a:t>• Future: cloud deployment and mobile application support.</a:t>
            </a:r>
          </a:p>
        </p:txBody>
      </p:sp>
      <p:sp>
        <p:nvSpPr>
          <p:cNvPr id="4" name="Rectangle 3"/>
          <p:cNvSpPr/>
          <p:nvPr/>
        </p:nvSpPr>
        <p:spPr>
          <a:xfrm>
            <a:off x="0" y="6583680"/>
            <a:ext cx="12191695" cy="274320"/>
          </a:xfrm>
          <a:prstGeom prst="rect">
            <a:avLst/>
          </a:prstGeom>
          <a:solidFill>
            <a:srgbClr val="14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565392"/>
            <a:ext cx="914400" cy="228600"/>
          </a:xfrm>
          <a:prstGeom prst="rect">
            <a:avLst/>
          </a:prstGeom>
          <a:noFill/>
        </p:spPr>
        <p:txBody>
          <a:bodyPr wrap="none">
            <a:spAutoFit/>
          </a:bodyPr>
          <a:lstStyle/>
          <a:p>
            <a:pPr algn="r">
              <a:defRPr sz="1000">
                <a:solidFill>
                  <a:srgbClr val="FFFFFF"/>
                </a:solidFill>
              </a:defRPr>
            </a:pPr>
            <a:r>
              <a:t>10</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8C80-4835-8868-4F45-12C7436F301A}"/>
              </a:ext>
            </a:extLst>
          </p:cNvPr>
          <p:cNvSpPr>
            <a:spLocks noGrp="1"/>
          </p:cNvSpPr>
          <p:nvPr>
            <p:ph type="title"/>
          </p:nvPr>
        </p:nvSpPr>
        <p:spPr>
          <a:xfrm>
            <a:off x="865238" y="634743"/>
            <a:ext cx="1995949" cy="685800"/>
          </a:xfrm>
        </p:spPr>
        <p:txBody>
          <a:bodyPr>
            <a:normAutofit/>
          </a:bodyPr>
          <a:lstStyle/>
          <a:p>
            <a:r>
              <a:rPr lang="en-IN" sz="2900" b="1" dirty="0">
                <a:solidFill>
                  <a:srgbClr val="002060"/>
                </a:solidFill>
                <a:latin typeface="+mn-lt"/>
              </a:rPr>
              <a:t>Reference</a:t>
            </a:r>
          </a:p>
        </p:txBody>
      </p:sp>
      <p:sp>
        <p:nvSpPr>
          <p:cNvPr id="3" name="Content Placeholder 2">
            <a:extLst>
              <a:ext uri="{FF2B5EF4-FFF2-40B4-BE49-F238E27FC236}">
                <a16:creationId xmlns:a16="http://schemas.microsoft.com/office/drawing/2014/main" id="{FD93ACFE-A552-93B4-7F1C-A2BF9E4077C3}"/>
              </a:ext>
            </a:extLst>
          </p:cNvPr>
          <p:cNvSpPr>
            <a:spLocks noGrp="1"/>
          </p:cNvSpPr>
          <p:nvPr>
            <p:ph idx="1"/>
          </p:nvPr>
        </p:nvSpPr>
        <p:spPr>
          <a:xfrm>
            <a:off x="865238" y="1423219"/>
            <a:ext cx="10235381" cy="4525963"/>
          </a:xfrm>
        </p:spPr>
        <p:txBody>
          <a:bodyPr>
            <a:normAutofit/>
          </a:bodyPr>
          <a:lstStyle/>
          <a:p>
            <a:pPr lvl="0"/>
            <a:r>
              <a:rPr lang="en-IN" sz="1900" dirty="0"/>
              <a:t>World Health Organization (WHO) – </a:t>
            </a:r>
            <a:r>
              <a:rPr lang="en-IN" sz="1900" i="1" dirty="0"/>
              <a:t>Global Strategy on Digital Health 2020–2025</a:t>
            </a:r>
            <a:r>
              <a:rPr lang="en-IN" sz="1900" dirty="0"/>
              <a:t>.</a:t>
            </a:r>
          </a:p>
          <a:p>
            <a:pPr lvl="0"/>
            <a:r>
              <a:rPr lang="en-IN" sz="1900" dirty="0"/>
              <a:t>Ministry of Health &amp; Family Welfare, Government of India – </a:t>
            </a:r>
            <a:r>
              <a:rPr lang="en-IN" sz="1900" i="1" dirty="0"/>
              <a:t>Digital Health Initiatives</a:t>
            </a:r>
            <a:r>
              <a:rPr lang="en-IN" sz="1900" dirty="0"/>
              <a:t>.</a:t>
            </a:r>
          </a:p>
          <a:p>
            <a:pPr lvl="0"/>
            <a:r>
              <a:rPr lang="en-IN" sz="1900" dirty="0"/>
              <a:t>MDN Web Docs – </a:t>
            </a:r>
            <a:r>
              <a:rPr lang="en-IN" sz="1900" i="1" dirty="0"/>
              <a:t>HTML, CSS and JavaScript Documentation</a:t>
            </a:r>
            <a:r>
              <a:rPr lang="en-IN" sz="1900" dirty="0"/>
              <a:t>.</a:t>
            </a:r>
          </a:p>
          <a:p>
            <a:pPr lvl="0"/>
            <a:r>
              <a:rPr lang="en-IN" sz="1900" dirty="0"/>
              <a:t>Python Software Foundation – </a:t>
            </a:r>
            <a:r>
              <a:rPr lang="en-IN" sz="1900" i="1" dirty="0"/>
              <a:t>Python Documentation</a:t>
            </a:r>
            <a:r>
              <a:rPr lang="en-IN" sz="1900" dirty="0"/>
              <a:t>.</a:t>
            </a:r>
          </a:p>
          <a:p>
            <a:pPr lvl="0"/>
            <a:r>
              <a:rPr lang="en-IN" sz="1900" dirty="0"/>
              <a:t>Django Software Foundation – </a:t>
            </a:r>
            <a:r>
              <a:rPr lang="en-IN" sz="1900" i="1" dirty="0"/>
              <a:t>Django Documentation</a:t>
            </a:r>
            <a:r>
              <a:rPr lang="en-IN" sz="1900" dirty="0"/>
              <a:t>.</a:t>
            </a:r>
          </a:p>
          <a:p>
            <a:pPr lvl="0"/>
            <a:r>
              <a:rPr lang="en-IN" sz="1900" dirty="0"/>
              <a:t>PostgreSQL Documentation – </a:t>
            </a:r>
            <a:r>
              <a:rPr lang="en-IN" sz="1900" i="1" dirty="0"/>
              <a:t>Database Management and SQL Reference</a:t>
            </a:r>
            <a:r>
              <a:rPr lang="en-IN" sz="1900" dirty="0"/>
              <a:t>.</a:t>
            </a:r>
          </a:p>
          <a:p>
            <a:pPr lvl="0"/>
            <a:r>
              <a:rPr lang="en-IN" sz="1900" dirty="0"/>
              <a:t>Research papers and articles on </a:t>
            </a:r>
            <a:r>
              <a:rPr lang="en-IN" sz="1900" b="1" dirty="0"/>
              <a:t>Hospital Queue Management Systems and Healthcare Appointment Scheduling</a:t>
            </a:r>
            <a:r>
              <a:rPr lang="en-IN" sz="1900" dirty="0"/>
              <a:t>.</a:t>
            </a:r>
          </a:p>
          <a:p>
            <a:pPr lvl="0"/>
            <a:r>
              <a:rPr lang="en-IN" sz="1900" dirty="0"/>
              <a:t>GitHub – Open-source references for </a:t>
            </a:r>
            <a:r>
              <a:rPr lang="en-IN" sz="1900" b="1" dirty="0"/>
              <a:t>Hospital Management and Queue Management Systems</a:t>
            </a:r>
            <a:r>
              <a:rPr lang="en-IN" sz="1900" dirty="0"/>
              <a:t>.</a:t>
            </a:r>
          </a:p>
          <a:p>
            <a:endParaRPr lang="en-IN" dirty="0"/>
          </a:p>
        </p:txBody>
      </p:sp>
    </p:spTree>
    <p:extLst>
      <p:ext uri="{BB962C8B-B14F-4D97-AF65-F5344CB8AC3E}">
        <p14:creationId xmlns:p14="http://schemas.microsoft.com/office/powerpoint/2010/main" val="356506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D50"/>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332720" cy="914400"/>
          </a:xfrm>
          <a:prstGeom prst="rect">
            <a:avLst/>
          </a:prstGeom>
          <a:noFill/>
        </p:spPr>
        <p:txBody>
          <a:bodyPr wrap="none">
            <a:spAutoFit/>
          </a:bodyPr>
          <a:lstStyle/>
          <a:p>
            <a:pPr algn="ctr">
              <a:defRPr sz="3800" b="1">
                <a:solidFill>
                  <a:srgbClr val="FFFFFF"/>
                </a:solidFill>
              </a:defRPr>
            </a:pPr>
            <a:r>
              <a:t>Conclusion</a:t>
            </a:r>
          </a:p>
        </p:txBody>
      </p:sp>
      <p:sp>
        <p:nvSpPr>
          <p:cNvPr id="3" name="TextBox 2"/>
          <p:cNvSpPr txBox="1"/>
          <p:nvPr/>
        </p:nvSpPr>
        <p:spPr>
          <a:xfrm>
            <a:off x="195559" y="2880360"/>
            <a:ext cx="11770402" cy="1215717"/>
          </a:xfrm>
          <a:prstGeom prst="rect">
            <a:avLst/>
          </a:prstGeom>
          <a:noFill/>
        </p:spPr>
        <p:txBody>
          <a:bodyPr wrap="none">
            <a:spAutoFit/>
          </a:bodyPr>
          <a:lstStyle/>
          <a:p>
            <a:pPr algn="ctr">
              <a:defRPr sz="2200">
                <a:solidFill>
                  <a:srgbClr val="BFDBFE"/>
                </a:solidFill>
              </a:defRPr>
            </a:pPr>
            <a:r>
              <a:rPr dirty="0" err="1"/>
              <a:t>MediQueue</a:t>
            </a:r>
            <a:r>
              <a:rPr dirty="0"/>
              <a:t> provides a simple and efficient solution for hospital OP booking and queue management.</a:t>
            </a:r>
            <a:br>
              <a:rPr dirty="0"/>
            </a:br>
            <a:br>
              <a:rPr dirty="0"/>
            </a:br>
            <a:r>
              <a:rPr sz="2900" b="1"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11</TotalTime>
  <Words>540</Words>
  <Application>Microsoft Office PowerPoint</Application>
  <PresentationFormat>Widescreen</PresentationFormat>
  <Paragraphs>70</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Srija reddy Etikala</dc:creator>
  <cp:keywords/>
  <dc:description>generated using python-pptx</dc:description>
  <cp:lastModifiedBy>ETIKALA SRIJA</cp:lastModifiedBy>
  <cp:revision>2</cp:revision>
  <dcterms:created xsi:type="dcterms:W3CDTF">2013-01-27T09:14:16Z</dcterms:created>
  <dcterms:modified xsi:type="dcterms:W3CDTF">2026-10-06T06:38:39Z</dcterms:modified>
  <cp:category/>
</cp:coreProperties>
</file>